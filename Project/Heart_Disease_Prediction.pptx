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4272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4272B"/>
                </a:solidFill>
                <a:latin typeface="Calibri"/>
              </a:rPr>
              <a:t>Heart Disease Presence (n = 1,025)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3202C"/>
              </a:solidFill>
              <a:effectLst/>
            </c:spPr>
          </c:dPt>
          <c:dPt>
            <c:idx val="1"/>
            <c:bubble3D val="0"/>
            <c:spPr>
              <a:solidFill>
                <a:srgbClr val="D8D6D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Disease (1)</c:v>
                </c:pt>
                <c:pt idx="1">
                  <c:v>No Disease (0)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526</c:v>
                </c:pt>
                <c:pt idx="1">
                  <c:v>499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D4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|r| with target</c:v>
                </c:pt>
              </c:strCache>
            </c:strRef>
          </c:tx>
          <c:spPr>
            <a:solidFill>
              <a:srgbClr val="3A3D4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427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A3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3D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320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3D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3D4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3202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3202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A3D4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3A3D42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age</c:v>
                  </c:pt>
                  <c:pt idx="1">
                    <c:v>sex</c:v>
                  </c:pt>
                  <c:pt idx="2">
                    <c:v>slope</c:v>
                  </c:pt>
                  <c:pt idx="3">
                    <c:v>thal</c:v>
                  </c:pt>
                  <c:pt idx="4">
                    <c:v>ca</c:v>
                  </c:pt>
                  <c:pt idx="5">
                    <c:v>thalach</c:v>
                  </c:pt>
                  <c:pt idx="6">
                    <c:v>cp</c:v>
                  </c:pt>
                  <c:pt idx="7">
                    <c:v>oldpeak</c:v>
                  </c:pt>
                  <c:pt idx="8">
                    <c:v>exang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0.23</c:v>
                </c:pt>
                <c:pt idx="1">
                  <c:v>0.28</c:v>
                </c:pt>
                <c:pt idx="2">
                  <c:v>0.35</c:v>
                </c:pt>
                <c:pt idx="3">
                  <c:v>0.34</c:v>
                </c:pt>
                <c:pt idx="4">
                  <c:v>0.38</c:v>
                </c:pt>
                <c:pt idx="5">
                  <c:v>0.42</c:v>
                </c:pt>
                <c:pt idx="6">
                  <c:v>0.43</c:v>
                </c:pt>
                <c:pt idx="7">
                  <c:v>0.44</c:v>
                </c:pt>
                <c:pt idx="8">
                  <c:v>0.44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427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D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b"/>
        <c:majorGridlines>
          <c:spPr>
            <a:ln w="9525" cap="flat">
              <a:solidFill>
                <a:srgbClr val="E3E1DD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D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49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9C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REPORT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Logistic Regression, SVM, and K-Nearest Neighbors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2011680" cy="0"/>
          </a:xfrm>
          <a:prstGeom prst="line">
            <a:avLst/>
          </a:prstGeom>
          <a:noFill/>
          <a:ln w="25400">
            <a:solidFill>
              <a:srgbClr val="B320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51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Bhargava Sai Sunil 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2520030605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Prem Kumar 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7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2520030479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5166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Jyothsna Datti</a:t>
            </a:r>
            <a:pPr indent="0" marL="0">
              <a:buNone/>
            </a:pPr>
            <a:r>
              <a:rPr lang="en-US" sz="1300" dirty="0">
                <a:solidFill>
                  <a:srgbClr val="B7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Professor, CSE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 |  Department of CSE  |  B.Tech, A.Y. 2026-27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one of the leading health concerns worldwide, and early prediction can support timely diagnosis and treatment. This project builds a machine learning-based prediction system using Logistic Regression, Support Vector Machine (SVM), and K-Nearest Neighbors (KNN) on a dataset of 1,025 patient records with 13 clinical and demographic features.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30632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333756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3630168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53312" y="3995928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handling, feature/target split, scaling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17720" y="30632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73752" y="333756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3630168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73752" y="3995928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SVM · KNN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306324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94192" y="333756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5" name="Text 13"/>
          <p:cNvSpPr/>
          <p:nvPr/>
        </p:nvSpPr>
        <p:spPr>
          <a:xfrm>
            <a:off x="8394192" y="3630168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94192" y="3995928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F1-Score, ROC-AUC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" y="51206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aims to serve as a decision-support tool for early risk identification — final diagnosis always rests with qualified healthcare professionals. Dataset sourced from Kaggle.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6035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among the most serious health concerns globally, responsible for millions of deaths each year. Diagnosing it accurately often requires experienced physicians, multiple tests, and considerable time — machine learning can analyze large volumes of healthcare data and surface patterns that assist diagnosis.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52360" y="1417320"/>
            <a:ext cx="0" cy="466344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581912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three supervised algorithms on historical patient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2633472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9" name="Text 7"/>
          <p:cNvSpPr/>
          <p:nvPr/>
        </p:nvSpPr>
        <p:spPr>
          <a:xfrm>
            <a:off x="8092440" y="2514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relationships between clinical attributes and disease presence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3685032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3566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models using Accuracy, Precision, Recall, F1 and ROC-AUC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4736592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4617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lightweight decision-support tool for early risk screening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heart.csv — UCI Heart Disease dataset, sourced via Kaggle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1305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280160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67912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50792" y="21305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050792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38544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1424" y="21305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821424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/ demographic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409176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92056" y="213055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592056" y="28346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heart disease present (1) vs. absent (0) — balanced at roughly 51% / 49%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4160520"/>
          <a:ext cx="9966960" cy="2148840"/>
        </p:xfrm>
        <a:graphic>
          <a:graphicData uri="http://schemas.openxmlformats.org/drawingml/2006/table">
            <a:tbl>
              <a:tblPr/>
              <a:tblGrid>
                <a:gridCol w="1920240"/>
                <a:gridCol w="3063240"/>
                <a:gridCol w="1920240"/>
                <a:gridCol w="3063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2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(years)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Exercise-induced angina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= male, 0 = female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oldpeak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depression vs.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pain type (0–3)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Slope of peak ST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trestbps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Resting blood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vessels colored (0–4)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cholesterol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Thalassemia (0–3)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fbs / restecg / thalach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sugar, ECG, max heart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= disease, 0 = no 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Target Distribution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463040"/>
          <a:ext cx="4663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600200"/>
            <a:ext cx="0" cy="448056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92240" y="1828800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7" name="Text 4"/>
          <p:cNvSpPr/>
          <p:nvPr/>
        </p:nvSpPr>
        <p:spPr>
          <a:xfrm>
            <a:off x="6766560" y="16642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526 patients (51.3%)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66560" y="2011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with heart disease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2880360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27157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499 patients (48.7%)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66560" y="3063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heart disease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3931920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3" name="Text 10"/>
          <p:cNvSpPr/>
          <p:nvPr/>
        </p:nvSpPr>
        <p:spPr>
          <a:xfrm>
            <a:off x="6766560" y="37673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classes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766560" y="41148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 meaningful metric here, alongside precision/recall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92240" y="4983480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6" name="Text 13"/>
          <p:cNvSpPr/>
          <p:nvPr/>
        </p:nvSpPr>
        <p:spPr>
          <a:xfrm>
            <a:off x="6766560" y="48188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missing data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51663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required prior to modeling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Correlation with Target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of each feature against heart-disease presence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005840" y="169164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189720" y="1783080"/>
            <a:ext cx="0" cy="4297680"/>
          </a:xfrm>
          <a:prstGeom prst="line">
            <a:avLst/>
          </a:prstGeom>
          <a:noFill/>
          <a:ln w="12700">
            <a:solidFill>
              <a:srgbClr val="E3E1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0" y="196596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8" name="Text 5"/>
          <p:cNvSpPr/>
          <p:nvPr/>
        </p:nvSpPr>
        <p:spPr>
          <a:xfrm>
            <a:off x="9784080" y="1828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509760" y="2423160"/>
            <a:ext cx="128016" cy="128016"/>
          </a:xfrm>
          <a:prstGeom prst="ellipse">
            <a:avLst/>
          </a:prstGeom>
          <a:solidFill>
            <a:srgbClr val="3A3D42"/>
          </a:solidFill>
          <a:ln/>
        </p:spPr>
      </p:sp>
      <p:sp>
        <p:nvSpPr>
          <p:cNvPr id="10" name="Text 7"/>
          <p:cNvSpPr/>
          <p:nvPr/>
        </p:nvSpPr>
        <p:spPr>
          <a:xfrm>
            <a:off x="9784080" y="22860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09760" y="306324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length shows the strength of association (|r|); color shows its direction.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Key Observations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508760"/>
            <a:ext cx="4846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764792"/>
            <a:ext cx="118872" cy="118872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heart rate (thalach)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20574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higher in patients with heart disease — one of the strongest separating features.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4846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764792"/>
            <a:ext cx="118872" cy="118872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64592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depression (oldpeak)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92240" y="20574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for disease-positive patients; higher and more variable for disease-negative patients.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97280" y="3182112"/>
            <a:ext cx="4846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3438144"/>
            <a:ext cx="118872" cy="118872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319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Chest pain type (cp)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373075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1–3 show far higher disease rates than type 0.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182112"/>
            <a:ext cx="4846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438144"/>
            <a:ext cx="118872" cy="118872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31927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Vessels colored (ca) &amp; thal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92240" y="373075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= 0 and thal = 2 are strongly associated with disease presence.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97280" y="4855464"/>
            <a:ext cx="4846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5111496"/>
            <a:ext cx="118872" cy="118872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9926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Cholesterol &amp; blood pressure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54041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with some high outliers — clinically plausible, not data errors.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4855464"/>
            <a:ext cx="48463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5111496"/>
            <a:ext cx="118872" cy="118872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99262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independence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92240" y="5404104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 of features shows severe multicollinearity (|r| &gt; 0.8).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17320"/>
          <a:ext cx="9966960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6675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7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10/11, Linux, or macOS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3.10 or later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Jupyter Notebook / Google Colab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Libraries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NumPy, Pandas — data handling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Matplotlib, Seaborn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— Logistic Regression, SVM, KNN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Disease dataset (CSV), sourced from Kaggle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50876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25880" y="23774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1,025-record heart disease dataset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788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duplicates, split features (X) and target (y)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150876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6916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83880" y="237744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278892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data to evaluate on unseen patients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97280" y="393192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25880" y="48006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21208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continuous features where required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393192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48006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521208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Logistic Regression, SVM, and KNN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3931920"/>
            <a:ext cx="3154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4114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183880" y="4800600"/>
            <a:ext cx="2697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83880" y="5212080"/>
            <a:ext cx="2697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Accuracy, Precision, Recall, F1, ROC-AUC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Compared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60020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874520"/>
            <a:ext cx="502920" cy="502920"/>
          </a:xfrm>
          <a:prstGeom prst="ellipse">
            <a:avLst/>
          </a:prstGeom>
          <a:solidFill>
            <a:srgbClr val="F4E4E4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model estimating the probability of disease from a weighted combination of clinical features. Fast, interpretable, and a strong baseline.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60020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874520"/>
            <a:ext cx="502920" cy="502920"/>
          </a:xfrm>
          <a:prstGeom prst="ellipse">
            <a:avLst/>
          </a:prstGeom>
          <a:solidFill>
            <a:srgbClr val="F4E4E4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boundary that separates disease vs. no-disease patients, effective in higher-dimensional feature spaces.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874520"/>
            <a:ext cx="502920" cy="502920"/>
          </a:xfrm>
          <a:prstGeom prst="ellipse">
            <a:avLst/>
          </a:prstGeom>
          <a:solidFill>
            <a:srgbClr val="F4E4E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32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5603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2697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 patient by majority vote among the most clinically similar patients in the training data.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is scored on the held-out test set using the following metrics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17373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53312" y="201168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2286000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53312" y="2606040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proportion of correct predictions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2312" y="201168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1" name="Text 9"/>
          <p:cNvSpPr/>
          <p:nvPr/>
        </p:nvSpPr>
        <p:spPr>
          <a:xfrm>
            <a:off x="4782312" y="2286000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782312" y="2606040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predicted-positive cases, how many truly have disease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73736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11312" y="201168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5" name="Text 13"/>
          <p:cNvSpPr/>
          <p:nvPr/>
        </p:nvSpPr>
        <p:spPr>
          <a:xfrm>
            <a:off x="8211312" y="2286000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11312" y="2606040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disease cases, how many were correctly identified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4290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3312" y="370332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9" name="Text 17"/>
          <p:cNvSpPr/>
          <p:nvPr/>
        </p:nvSpPr>
        <p:spPr>
          <a:xfrm>
            <a:off x="1353312" y="3977640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53312" y="4297680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and recall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6280" y="34290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370332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23" name="Text 21"/>
          <p:cNvSpPr/>
          <p:nvPr/>
        </p:nvSpPr>
        <p:spPr>
          <a:xfrm>
            <a:off x="4782312" y="3977640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782312" y="4297680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of true/false positives and negatives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3429000"/>
            <a:ext cx="3154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1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11312" y="3703320"/>
            <a:ext cx="128016" cy="128016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27" name="Text 25"/>
          <p:cNvSpPr/>
          <p:nvPr/>
        </p:nvSpPr>
        <p:spPr>
          <a:xfrm>
            <a:off x="8211312" y="3977640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11312" y="4297680"/>
            <a:ext cx="2642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ability to separate the two classes across thresholds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ML Project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146304" cy="146304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7280" y="160020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8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machine learning can support early identification of heart disease risk by learning from clinical patient data. Comparing Logistic Regression, SVM, and KNN highlights the trade-offs between interpretability and predictive power — with the strongest signal coming from chest pain type, max heart rate, exercise-induced angina, and ST depression.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3630168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52044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larger, multi-hospital datasets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4133088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02336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 methods (Random Forest, Gradient Boosting)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4636008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52628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for each model via cross-validation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5138928"/>
            <a:ext cx="109728" cy="109728"/>
          </a:xfrm>
          <a:prstGeom prst="ellipse">
            <a:avLst/>
          </a:prstGeom>
          <a:solidFill>
            <a:srgbClr val="B3202C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5029200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clinician-facing decision-support interface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5989320"/>
            <a:ext cx="2011680" cy="0"/>
          </a:xfrm>
          <a:prstGeom prst="line">
            <a:avLst/>
          </a:prstGeom>
          <a:noFill/>
          <a:ln w="25400">
            <a:solidFill>
              <a:srgbClr val="B320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C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 — Department of CSE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2026-08-25T06:37:38Z</dcterms:created>
  <dcterms:modified xsi:type="dcterms:W3CDTF">2026-08-25T06:37:38Z</dcterms:modified>
</cp:coreProperties>
</file>